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256" r:id="rId5"/>
    <p:sldId id="257" r:id="rId6"/>
    <p:sldId id="286" r:id="rId7"/>
    <p:sldId id="258" r:id="rId8"/>
    <p:sldId id="287" r:id="rId9"/>
    <p:sldId id="288" r:id="rId10"/>
    <p:sldId id="281" r:id="rId11"/>
    <p:sldId id="27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0655" autoAdjust="0"/>
  </p:normalViewPr>
  <p:slideViewPr>
    <p:cSldViewPr snapToGrid="0">
      <p:cViewPr varScale="1">
        <p:scale>
          <a:sx n="75" d="100"/>
          <a:sy n="75" d="100"/>
        </p:scale>
        <p:origin x="974" y="48"/>
      </p:cViewPr>
      <p:guideLst/>
    </p:cSldViewPr>
  </p:slideViewPr>
  <p:outlineViewPr>
    <p:cViewPr>
      <p:scale>
        <a:sx n="33" d="100"/>
        <a:sy n="33" d="100"/>
      </p:scale>
      <p:origin x="0" y="-28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03" y="29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Different</a:t>
            </a:r>
            <a:r>
              <a:rPr lang="en-US" baseline="0" dirty="0"/>
              <a:t> models and datasets precision by %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 (%)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I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Edge impulse - mic</c:v>
                </c:pt>
                <c:pt idx="1">
                  <c:v>Edge impulse -phone</c:v>
                </c:pt>
                <c:pt idx="2">
                  <c:v>Edge Impulse - Ivrit</c:v>
                </c:pt>
                <c:pt idx="3">
                  <c:v>Edge Impulse - Ivrit + High volume</c:v>
                </c:pt>
                <c:pt idx="4">
                  <c:v>Edge Impulse - Ivrit + High volume +Hard Negatives</c:v>
                </c:pt>
                <c:pt idx="5">
                  <c:v>TF Lite Micro STFT</c:v>
                </c:pt>
                <c:pt idx="6">
                  <c:v>TF Lite Micro MFCC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47.1</c:v>
                </c:pt>
                <c:pt idx="1">
                  <c:v>57.3</c:v>
                </c:pt>
                <c:pt idx="2">
                  <c:v>77.5</c:v>
                </c:pt>
                <c:pt idx="3">
                  <c:v>87.5</c:v>
                </c:pt>
                <c:pt idx="4">
                  <c:v>92.5</c:v>
                </c:pt>
                <c:pt idx="5">
                  <c:v>45</c:v>
                </c:pt>
                <c:pt idx="6">
                  <c:v>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504-492D-9C8D-DF0B726C8DF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346590528"/>
        <c:axId val="1732634576"/>
      </c:barChart>
      <c:catAx>
        <c:axId val="13465905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L"/>
          </a:p>
        </c:txPr>
        <c:crossAx val="1732634576"/>
        <c:crosses val="autoZero"/>
        <c:auto val="1"/>
        <c:lblAlgn val="ctr"/>
        <c:lblOffset val="100"/>
        <c:noMultiLvlLbl val="0"/>
      </c:catAx>
      <c:valAx>
        <c:axId val="17326345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L"/>
          </a:p>
        </c:txPr>
        <c:crossAx val="13465905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L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IL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10/27/2025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10/27/2025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128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04389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7E3EB-4331-8C8B-0456-F345472BA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1840A0-76AA-8FF4-261D-BC57F13DB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10054B-57C3-9882-8369-E46B3430D6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5A7CC0-FFBE-080C-BCFA-4A0EA78662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41010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9544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7E157-6396-7C8C-9177-FDAF69C40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4E3117-044D-F160-20E4-B347345F0A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401911-190A-1F73-D232-23AC3DC6C6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310AB-881B-1C9A-54AE-88768BCF70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68932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40CA5-CDB2-A701-1A1A-D53F1D2F2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A25EB4-05C8-DD44-16E3-98D4801F21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DB1B87-46C9-AA1D-C101-25C80D5AF9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F69AF6-95B7-344F-6ED7-08559BBED2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25297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3268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683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>
            <a:lvl1pPr algn="l">
              <a:defRPr lang="en-US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75451-6A4B-484B-9ED1-353CCE25B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41918" y="3329790"/>
            <a:ext cx="4941771" cy="3200400"/>
          </a:xfrm>
        </p:spPr>
        <p:txBody>
          <a:bodyPr anchor="ctr"/>
          <a:lstStyle/>
          <a:p>
            <a:r>
              <a:rPr lang="en-US" dirty="0"/>
              <a:t>Wake word - </a:t>
            </a:r>
            <a:r>
              <a:rPr lang="en-US" dirty="0" err="1"/>
              <a:t>IOt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F5859-10C9-4588-9727-B9362E26C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0" y="1020445"/>
            <a:ext cx="2895600" cy="1325563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1D7E5-EF66-4BCD-8DAA-E9061157F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/>
          <a:p>
            <a:r>
              <a:rPr lang="en-US" dirty="0"/>
              <a:t>Data collection</a:t>
            </a:r>
          </a:p>
          <a:p>
            <a:r>
              <a:rPr lang="en-US" dirty="0"/>
              <a:t>Different Platforms</a:t>
            </a:r>
          </a:p>
          <a:p>
            <a:r>
              <a:rPr lang="en-US" dirty="0"/>
              <a:t>Code </a:t>
            </a:r>
          </a:p>
          <a:p>
            <a:r>
              <a:rPr lang="en-US" dirty="0"/>
              <a:t>Data Optimization</a:t>
            </a:r>
          </a:p>
          <a:p>
            <a:r>
              <a:rPr lang="en-US" dirty="0"/>
              <a:t>Test Results</a:t>
            </a:r>
          </a:p>
          <a:p>
            <a:r>
              <a:rPr lang="en-US" dirty="0"/>
              <a:t>Demo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02A8827-B1A1-2D2F-D6DD-E886B886C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219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FFB8C-68D1-CD1B-0872-F8762E1C2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4EBAE53-D01E-0892-E6B4-46F87DF12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/>
          <a:p>
            <a:r>
              <a:rPr lang="en-US" dirty="0"/>
              <a:t>Data collection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F53C265-4FFF-888E-E8A6-9EF08C910DB3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838200" y="2813049"/>
            <a:ext cx="3247662" cy="3238499"/>
          </a:xfrm>
        </p:spPr>
        <p:txBody>
          <a:bodyPr>
            <a:normAutofit/>
          </a:bodyPr>
          <a:lstStyle/>
          <a:p>
            <a:r>
              <a:rPr lang="en-US" dirty="0"/>
              <a:t>The different approach for data collection we used.</a:t>
            </a:r>
          </a:p>
          <a:p>
            <a:endParaRPr lang="en-US" dirty="0"/>
          </a:p>
          <a:p>
            <a:r>
              <a:rPr lang="en-US" dirty="0"/>
              <a:t>* Code for controller microphone using SD and for ivirit.ai is in git </a:t>
            </a:r>
          </a:p>
        </p:txBody>
      </p:sp>
      <p:graphicFrame>
        <p:nvGraphicFramePr>
          <p:cNvPr id="10" name="Table Placeholder 2">
            <a:extLst>
              <a:ext uri="{FF2B5EF4-FFF2-40B4-BE49-F238E27FC236}">
                <a16:creationId xmlns:a16="http://schemas.microsoft.com/office/drawing/2014/main" id="{DF07899B-8CA6-6834-DF8C-D157F8CC0D30}"/>
              </a:ext>
            </a:extLst>
          </p:cNvPr>
          <p:cNvGraphicFramePr>
            <a:graphicFrameLocks noGrp="1"/>
          </p:cNvGraphicFramePr>
          <p:nvPr>
            <p:ph type="tbl" sz="quarter" idx="14"/>
            <p:extLst>
              <p:ext uri="{D42A27DB-BD31-4B8C-83A1-F6EECF244321}">
                <p14:modId xmlns:p14="http://schemas.microsoft.com/office/powerpoint/2010/main" val="2246656010"/>
              </p:ext>
            </p:extLst>
          </p:nvPr>
        </p:nvGraphicFramePr>
        <p:xfrm>
          <a:off x="4216400" y="895350"/>
          <a:ext cx="7251699" cy="5286374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417233">
                  <a:extLst>
                    <a:ext uri="{9D8B030D-6E8A-4147-A177-3AD203B41FA5}">
                      <a16:colId xmlns:a16="http://schemas.microsoft.com/office/drawing/2014/main" val="127040821"/>
                    </a:ext>
                  </a:extLst>
                </a:gridCol>
                <a:gridCol w="2417233">
                  <a:extLst>
                    <a:ext uri="{9D8B030D-6E8A-4147-A177-3AD203B41FA5}">
                      <a16:colId xmlns:a16="http://schemas.microsoft.com/office/drawing/2014/main" val="149845700"/>
                    </a:ext>
                  </a:extLst>
                </a:gridCol>
                <a:gridCol w="2417233">
                  <a:extLst>
                    <a:ext uri="{9D8B030D-6E8A-4147-A177-3AD203B41FA5}">
                      <a16:colId xmlns:a16="http://schemas.microsoft.com/office/drawing/2014/main" val="3119692462"/>
                    </a:ext>
                  </a:extLst>
                </a:gridCol>
              </a:tblGrid>
              <a:tr h="1359027"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PROS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CONS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013591"/>
                  </a:ext>
                </a:extLst>
              </a:tr>
              <a:tr h="153365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CONTROLLER MICROPHONE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STANDARDISE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dirty="0"/>
                        <a:t>LOW VOLUME, LOW DIVERCITY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867931"/>
                  </a:ext>
                </a:extLst>
              </a:tr>
              <a:tr h="140809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PHONE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HIGH DIVERCITY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LOW VOLUME, HARD TO STANDARDISE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209771"/>
                  </a:ext>
                </a:extLst>
              </a:tr>
              <a:tr h="98560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IVRIT.AI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HIGH VOLUME, HIGH DIVERCITY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SOME MISSFEATS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1031278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B24513-3571-B278-4C6D-24665CE13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34645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2731C-311B-46F7-A865-6C3AF6B0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2121177"/>
          </a:xfrm>
        </p:spPr>
        <p:txBody>
          <a:bodyPr/>
          <a:lstStyle/>
          <a:p>
            <a:r>
              <a:rPr lang="en-US" dirty="0"/>
              <a:t>DIFFRENTE PLATFORMS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5232F9-FD00-464A-9F17-619C91AEF8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/>
          <a:p>
            <a:pPr lvl="1"/>
            <a:r>
              <a:rPr lang="en-US" b="1" dirty="0"/>
              <a:t>Edge Impulse </a:t>
            </a:r>
            <a:r>
              <a:rPr lang="en-US" dirty="0"/>
              <a:t>– user friendly,  high performance, they give a lot of tools to the user to work with. The main problem is there no working demo for ESP </a:t>
            </a:r>
          </a:p>
          <a:p>
            <a:pPr lvl="1"/>
            <a:r>
              <a:rPr lang="en-US" b="1" dirty="0"/>
              <a:t>TF Lite Micro with MFCC\STFT</a:t>
            </a:r>
            <a:r>
              <a:rPr lang="en-US" dirty="0"/>
              <a:t> – main problem is there in no build in library for MFCC\STFT in the ecosystem. Due to low understanding of MFCC\STFT and the need to create one on our own – low performance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CE635A2-70B8-3EAB-6A18-952B02EB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15163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C6F64-BD6A-8431-B671-E01B01EDC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52868-4B2D-3805-4073-7775B18FF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2121177"/>
          </a:xfrm>
        </p:spPr>
        <p:txBody>
          <a:bodyPr/>
          <a:lstStyle/>
          <a:p>
            <a:r>
              <a:rPr lang="en-US" dirty="0"/>
              <a:t>code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484A7D-7164-9AC8-C395-011338018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/>
          <a:p>
            <a:pPr lvl="1"/>
            <a:r>
              <a:rPr lang="en-US" b="1" dirty="0"/>
              <a:t>Ivirit.ai – </a:t>
            </a:r>
            <a:r>
              <a:rPr lang="en-US" dirty="0"/>
              <a:t>API using hugging face</a:t>
            </a:r>
          </a:p>
          <a:p>
            <a:pPr lvl="1"/>
            <a:r>
              <a:rPr lang="en-US" b="1" dirty="0"/>
              <a:t>Controller microphone recording</a:t>
            </a:r>
          </a:p>
          <a:p>
            <a:pPr lvl="1"/>
            <a:r>
              <a:rPr lang="en-US" b="1" dirty="0"/>
              <a:t>Edge Impulse </a:t>
            </a:r>
            <a:r>
              <a:rPr lang="en-US" dirty="0"/>
              <a:t>– creation of working demo</a:t>
            </a:r>
          </a:p>
          <a:p>
            <a:pPr lvl="1"/>
            <a:r>
              <a:rPr lang="en-US" b="1" dirty="0"/>
              <a:t>TF Lite Micro with MFCC</a:t>
            </a:r>
            <a:r>
              <a:rPr lang="en-US" dirty="0"/>
              <a:t> – creation of MFCC Feature Extractor on edge, working demo and working pipeline to create MFCC model (in python)</a:t>
            </a:r>
          </a:p>
          <a:p>
            <a:pPr lvl="1"/>
            <a:r>
              <a:rPr lang="en-US" b="1" dirty="0"/>
              <a:t>TF Lite Micro with STFT - </a:t>
            </a:r>
            <a:r>
              <a:rPr lang="en-US" dirty="0"/>
              <a:t>creation of STFT Feature Extractor on edge, working demo and working pipeline to create STFT model (in python)</a:t>
            </a:r>
          </a:p>
          <a:p>
            <a:pPr lvl="1"/>
            <a:endParaRPr lang="en-US" dirty="0"/>
          </a:p>
          <a:p>
            <a:pPr lvl="1"/>
            <a:endParaRPr lang="en-US" b="1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8779CB1E-BB8D-E7F0-81A4-8E377504D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69073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671EA-B7AA-EF6B-443E-C24E8C480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600CC-93B4-7F80-4D3B-988805945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1"/>
            <a:ext cx="7288282" cy="1217540"/>
          </a:xfrm>
        </p:spPr>
        <p:txBody>
          <a:bodyPr/>
          <a:lstStyle/>
          <a:p>
            <a:r>
              <a:rPr lang="en-US" dirty="0"/>
              <a:t>DATA Optimization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DA8BC2-7A68-EFA5-0A30-B70B89677E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88" y="1609726"/>
            <a:ext cx="7288212" cy="4560404"/>
          </a:xfrm>
        </p:spPr>
        <p:txBody>
          <a:bodyPr>
            <a:normAutofit/>
          </a:bodyPr>
          <a:lstStyle/>
          <a:p>
            <a:pPr lvl="1"/>
            <a:r>
              <a:rPr lang="en-US" b="1" dirty="0"/>
              <a:t>Unknown Label – </a:t>
            </a:r>
            <a:r>
              <a:rPr lang="en-US" dirty="0"/>
              <a:t>a label of all false words to add separation between noise and false words </a:t>
            </a:r>
          </a:p>
          <a:p>
            <a:pPr lvl="1"/>
            <a:r>
              <a:rPr lang="en-US" b="1" dirty="0"/>
              <a:t>Standardizing Data</a:t>
            </a:r>
            <a:r>
              <a:rPr lang="en-US" dirty="0"/>
              <a:t>– use data from relative sources with relative decibel distribution – help to remove unpredictive behavior due to data profile.</a:t>
            </a:r>
          </a:p>
          <a:p>
            <a:pPr lvl="1"/>
            <a:r>
              <a:rPr lang="en-US" b="1" dirty="0"/>
              <a:t>Data Volume – </a:t>
            </a:r>
            <a:r>
              <a:rPr lang="en-US" dirty="0"/>
              <a:t>Usage of ~2500 of voice samples</a:t>
            </a:r>
            <a:endParaRPr lang="en-US" b="1" dirty="0"/>
          </a:p>
          <a:p>
            <a:pPr lvl="1"/>
            <a:r>
              <a:rPr lang="en-US" b="1" dirty="0"/>
              <a:t>Diversity of Voices – </a:t>
            </a:r>
            <a:r>
              <a:rPr lang="en-US" dirty="0"/>
              <a:t>using deferent speakers - remove sensitivity to change of voice</a:t>
            </a:r>
          </a:p>
          <a:p>
            <a:pPr lvl="1"/>
            <a:r>
              <a:rPr lang="en-US" b="1" dirty="0"/>
              <a:t>Hard Negatives – </a:t>
            </a:r>
            <a:r>
              <a:rPr lang="en-US" dirty="0"/>
              <a:t>add words to the unknown label that resemble the key word – improved a lot the false positives</a:t>
            </a:r>
          </a:p>
          <a:p>
            <a:pPr lvl="1"/>
            <a:r>
              <a:rPr lang="en-US" b="1" dirty="0"/>
              <a:t>2D Convolution Matrix – </a:t>
            </a:r>
            <a:r>
              <a:rPr lang="en-US" dirty="0"/>
              <a:t>using more complex convolution matrix on the data before training – didn’t show big difference in results.</a:t>
            </a:r>
            <a:endParaRPr lang="en-US" b="1" dirty="0"/>
          </a:p>
          <a:p>
            <a:pPr lvl="1"/>
            <a:endParaRPr lang="en-US" dirty="0"/>
          </a:p>
          <a:p>
            <a:pPr lvl="1"/>
            <a:endParaRPr lang="en-US" b="1" dirty="0"/>
          </a:p>
          <a:p>
            <a:pPr lvl="1"/>
            <a:endParaRPr lang="en-US" b="1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BF09933A-4F7B-D357-FE0A-10D9BCAD6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50535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E2E6A-35EC-1B8E-0FD7-8C67870AC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961"/>
            <a:ext cx="8420100" cy="745489"/>
          </a:xfrm>
        </p:spPr>
        <p:txBody>
          <a:bodyPr/>
          <a:lstStyle/>
          <a:p>
            <a:r>
              <a:rPr lang="en-US" dirty="0"/>
              <a:t>Test Results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F44A959-C2BB-9170-C99C-1A2EDB71B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7</a:t>
            </a:fld>
            <a:endParaRPr lang="en-US" dirty="0"/>
          </a:p>
        </p:txBody>
      </p:sp>
      <p:graphicFrame>
        <p:nvGraphicFramePr>
          <p:cNvPr id="22" name="Chart 21">
            <a:extLst>
              <a:ext uri="{FF2B5EF4-FFF2-40B4-BE49-F238E27FC236}">
                <a16:creationId xmlns:a16="http://schemas.microsoft.com/office/drawing/2014/main" id="{AA023B63-9C81-3250-F2CE-BA017E09E0D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19221904"/>
              </p:ext>
            </p:extLst>
          </p:nvPr>
        </p:nvGraphicFramePr>
        <p:xfrm>
          <a:off x="1853514" y="1439333"/>
          <a:ext cx="9652686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034587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F1EDE-5423-435C-B149-87AB1BC22B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7200" y="1213480"/>
            <a:ext cx="4179570" cy="1524735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64C29E-DF30-4DC6-AB95-2016F9A703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2884672"/>
            <a:ext cx="4179570" cy="2850181"/>
          </a:xfrm>
        </p:spPr>
        <p:txBody>
          <a:bodyPr>
            <a:noAutofit/>
          </a:bodyPr>
          <a:lstStyle/>
          <a:p>
            <a:r>
              <a:rPr lang="en-US" dirty="0"/>
              <a:t>Eran Shouach</a:t>
            </a:r>
            <a:br>
              <a:rPr lang="en-US" dirty="0"/>
            </a:br>
            <a:r>
              <a:rPr lang="en-US" dirty="0"/>
              <a:t>Yaron Florentz </a:t>
            </a:r>
            <a:br>
              <a:rPr lang="en-US" dirty="0"/>
            </a:br>
            <a:r>
              <a:rPr lang="en-US" dirty="0"/>
              <a:t>Firas Gadban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27D99-645F-4FCF-9573-FDFE2A34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115A05B-BE90-64D6-C01E-B8E9FA405BB3}"/>
              </a:ext>
            </a:extLst>
          </p:cNvPr>
          <p:cNvSpPr txBox="1">
            <a:spLocks/>
          </p:cNvSpPr>
          <p:nvPr/>
        </p:nvSpPr>
        <p:spPr>
          <a:xfrm>
            <a:off x="4117411" y="3547394"/>
            <a:ext cx="4179570" cy="152473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spc="15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And now demo</a:t>
            </a:r>
          </a:p>
        </p:txBody>
      </p:sp>
    </p:spTree>
    <p:extLst>
      <p:ext uri="{BB962C8B-B14F-4D97-AF65-F5344CB8AC3E}">
        <p14:creationId xmlns:p14="http://schemas.microsoft.com/office/powerpoint/2010/main" val="196978756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9168DCE-134F-4610-A6AA-88CEBE8D71D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5EDE3176-A15D-46A3-BDDB-64A0D73632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{F46019D8-5B95-426D-8749-3B6513BFD14B}tf67328976_win32</Template>
  <TotalTime>329</TotalTime>
  <Words>369</Words>
  <Application>Microsoft Office PowerPoint</Application>
  <PresentationFormat>Widescreen</PresentationFormat>
  <Paragraphs>61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Tenorite</vt:lpstr>
      <vt:lpstr>Custom</vt:lpstr>
      <vt:lpstr>Wake word - IOt</vt:lpstr>
      <vt:lpstr>AGENDA</vt:lpstr>
      <vt:lpstr>Data collection</vt:lpstr>
      <vt:lpstr>DIFFRENTE PLATFORMS</vt:lpstr>
      <vt:lpstr>code</vt:lpstr>
      <vt:lpstr>DATA Optimization</vt:lpstr>
      <vt:lpstr>Test Results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Eran Shouh</dc:creator>
  <cp:lastModifiedBy>Eran Shouh</cp:lastModifiedBy>
  <cp:revision>14</cp:revision>
  <dcterms:created xsi:type="dcterms:W3CDTF">2025-10-26T07:53:45Z</dcterms:created>
  <dcterms:modified xsi:type="dcterms:W3CDTF">2025-10-27T09:29:08Z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